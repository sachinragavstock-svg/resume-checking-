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3840480"/>
          </a:xfrm>
          <a:prstGeom prst="roundRect">
            <a:avLst/>
          </a:prstGeom>
          <a:solidFill>
            <a:srgbClr val="131C30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6B6D4"/>
                </a:solidFill>
              </a:defRPr>
            </a:pPr>
            <a:r>
              <a:t>RESUMEIQ</a:t>
            </a:r>
          </a:p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</a:defRPr>
            </a:pPr>
            <a:r>
              <a:t>DSA-Driven Resume Matching Engine &amp; Interactive Algorithm Laboratory</a:t>
            </a:r>
          </a:p>
          <a:p>
            <a:pPr>
              <a:spcAft>
                <a:spcPts val="2000"/>
              </a:spcAft>
              <a:defRPr sz="1300">
                <a:solidFill>
                  <a:srgbClr val="94A3B8"/>
                </a:solidFill>
              </a:defRPr>
            </a:pPr>
            <a:r>
              <a:t>A deterministic, portfolio-grade system replacing black-box AI with verifiable Data Structures &amp; Algorithms: HashMap O(1), Trie O(L), KMP O(N+M), Rabin-Karp O(N+M), Levenshtein DP O(NM), and Max-Heap Ranking O(K log K).</a:t>
            </a:r>
          </a:p>
          <a:p>
            <a:pPr>
              <a:defRPr sz="1100" b="1">
                <a:solidFill>
                  <a:srgbClr val="6366F1"/>
                </a:solidFill>
              </a:defRPr>
            </a:pPr>
            <a:r>
              <a:t>Live Match Engine  |  Explainability Matrix  |  Battle View  |  DSA Lab  |  Empirical Benchmarks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RESUMEIQ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Problem with Modern Resume Screeners &amp; The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Current Industry Pitfalls (Black-Box AI)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[THE CHALLENGE]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Non-Deterministic Scores: Feeding the same resume multiple times yields fluctuating match percentages.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Zero Explainability: Candidates &amp; recruiters cannot see exactly why a score was awarded or which keywords triggered it.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Hallucinations &amp; False Assumptions: LLMs infer qualifications that aren't strictly documented.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High API Latency &amp; Cloud Cost: External LLM API calls are slow and expensive at scale.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Opaque Decision Logic: Lack of audit trails for university placements, hackathons, and corporate ATS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The ResumeIQ Paradigm (Verifiable DSA)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[OUR SOLUTION]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100% Deterministic: Exact mathematical computation calculated from real algorithmic outputs.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Transparent Proofs: Every requirement shows the exact matching method (HashMap, Trie, KMP, Edit Distance).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Zero External AI Dependencies: Runs completely offline with native, handcrafted Python algorithms.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Blazing Fast Execution: Sub-millisecond pipeline latency with O(1) hash maps and O(L) prefix lookups.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Dual-Purpose Platform: Serves as both a production resume analyzer and an interactive algorithm laboratory.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RESUMEIQ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System Architecture (7-Layer Pipeline)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566928"/>
          </a:xfrm>
          <a:prstGeom prst="roundRect">
            <a:avLst/>
          </a:prstGeom>
          <a:solidFill>
            <a:srgbClr val="131C3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Layer 1: Document Parsing: </a:t>
            </a:r>
            <a:r>
              <a:rPr sz="1200" b="0">
                <a:solidFill>
                  <a:srgbClr val="94A3B8"/>
                </a:solidFill>
              </a:rPr>
              <a:t>PDF, TXT, &amp; Raw Stream Ingestion (pdfplumber)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10728655" cy="566928"/>
          </a:xfrm>
          <a:prstGeom prst="roundRect">
            <a:avLst/>
          </a:prstGeom>
          <a:solidFill>
            <a:srgbClr val="131C30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Layer 2: Tokenization &amp; Normalization: </a:t>
            </a:r>
            <a:r>
              <a:rPr sz="1200" b="0">
                <a:solidFill>
                  <a:srgbClr val="94A3B8"/>
                </a:solidFill>
              </a:rPr>
              <a:t>Stopword filtering, canonical alias mapping (React.js -&gt; React)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79776"/>
            <a:ext cx="10728655" cy="566928"/>
          </a:xfrm>
          <a:prstGeom prst="roundRect">
            <a:avLst/>
          </a:prstGeom>
          <a:solidFill>
            <a:srgbClr val="131C3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Layer 3: In-Memory Dual Indexing: </a:t>
            </a:r>
            <a:r>
              <a:rPr sz="1200" b="0">
                <a:solidFill>
                  <a:srgbClr val="94A3B8"/>
                </a:solidFill>
              </a:rPr>
              <a:t>HashMap O(1) keyword frequency + Trie O(L) prefix tree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10728655" cy="566928"/>
          </a:xfrm>
          <a:prstGeom prst="roundRect">
            <a:avLst/>
          </a:prstGeom>
          <a:solidFill>
            <a:srgbClr val="131C3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8386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Layer 4: Advanced Substring Match: </a:t>
            </a:r>
            <a:r>
              <a:rPr sz="1200" b="0">
                <a:solidFill>
                  <a:srgbClr val="94A3B8"/>
                </a:solidFill>
              </a:rPr>
              <a:t>KMP with LPS jump table &amp; Rabin-Karp rolling hash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10728655" cy="566928"/>
          </a:xfrm>
          <a:prstGeom prst="roundRect">
            <a:avLst/>
          </a:prstGeom>
          <a:solidFill>
            <a:srgbClr val="131C30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Layer 5: Fuzzy &amp; Typo Tolerance: </a:t>
            </a:r>
            <a:r>
              <a:rPr sz="1200" b="0">
                <a:solidFill>
                  <a:srgbClr val="94A3B8"/>
                </a:solidFill>
              </a:rPr>
              <a:t>Dynamic Programming Levenshtein Edit Distance O(NM)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10728655" cy="566928"/>
          </a:xfrm>
          <a:prstGeom prst="roundRect">
            <a:avLst/>
          </a:prstGeom>
          <a:solidFill>
            <a:srgbClr val="131C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0059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Layer 6: Max-Heap Weight Ranking: </a:t>
            </a:r>
            <a:r>
              <a:rPr sz="1200" b="0">
                <a:solidFill>
                  <a:srgbClr val="94A3B8"/>
                </a:solidFill>
              </a:rPr>
              <a:t>Importance attribution &amp; priority heap sorting O(K log 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13248"/>
            <a:ext cx="10728655" cy="566928"/>
          </a:xfrm>
          <a:prstGeom prst="roundRect">
            <a:avLst/>
          </a:prstGeom>
          <a:solidFill>
            <a:srgbClr val="131C30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5896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Layer 7: Visual Audit &amp; Battle View: </a:t>
            </a:r>
            <a:r>
              <a:rPr sz="1200" b="0">
                <a:solidFill>
                  <a:srgbClr val="94A3B8"/>
                </a:solidFill>
              </a:rPr>
              <a:t>Mathematical score derivation, side-by-side matrix,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RESUMEIQ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Signature Feature: Animated Live Match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1. Visual Pipeline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[ANIMATED STAGES]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Sequential animated progression across all 7 stages.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Prevents instant abrupt scores; visually teaches algorithmic evaluation.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Each stage highlights active data structures in real-time.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Replay capability for presentations &amp; demos.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2. Stage Deep-Dive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[INTERNAL INSPECTOR]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Click any stage card to open the internal state inspector.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Inspect raw tokens, character counts, and word distributions.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View HashMap chaining buckets &amp; collision counts.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Trace character-by-character Trie traversal paths.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413455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3. Mathematical Proof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[VERIFIABLE FORMULA]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Live mathematical calculation strip showing exact points.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Formula: (Matched Weight / Total Weight) * 100.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Itemized points attribution for required vs preferred skills.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Zero randomized numbers or arbitrary estimates.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RESUMEIQ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Explainable AI &amp; Interactive Scoring Transparency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Algorithmic Attribution per Skill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[ITEMIZED PROOF]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Exact Match: Python -&gt; Matched via Exact HashMap lookup (Freq: 4, O(1)).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Normalized Match: React.js -&gt; Normalized as React via taxonomy mapping.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Substring Match: PostgreSQL -&gt; Found in text via KMP LPS jump table (O(N+M)).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Fuzzy Match: Pythan -&gt; Matched with Python via Levenshtein DP (Dist: 1, 83% Sim).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Missing Skill: AWS -&gt; Verified missing across all 5 verification algorithms.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Live Interactive Weight Sliders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[WHAT-IF SCENARIOS]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Scenario Simulation: Users can adjust weight sliders (1 - 20 pts) in real-time.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Instant Recalculation: Visual formula updates immediately upon slider adjustment.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Hiring Sensitivity Analysis: See how prioritizing Core Languages vs Cloud affects fit.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One-Click Reset: Restore baseline job requirements with a single click.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RESUMEIQ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Resume vs Job 'Battle View' (Combat Alignment)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Side-by-Side Combat Matrix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[ALIGNMENT MATRIX]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Direct comparison mapping candidate profile vs employer requirements.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Clear Status Badges: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 * 🟢 MATCHED: Candidate has verified skill (+Full Weight).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 * 🟠 PARTIAL: Fuzzy/typo match (+50% Weight).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 * 🔴 MISSING: Skill not found (0 pts).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 * ⚪ NOT RELEVANT: Candidate extra bonus skills not requested.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Multi-Dimensional Filtering &amp; Insights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[GAP ANALYSIS]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Instant Filter Tabs: ALL, MATCHED, MISSING, PARTIAL, REQUIRED.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Identifies Skill Gaps: Clearly outlines exactly what skills the candidate needs to acquire.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Bonus Strengths: Highlights candidate bonus capabilities (e.g. Machine Learning, C++) without penalizing score.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Category Tagging: Groups skills by Languages, Frameworks, Cloud, Databases, and Tools.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RESUMEIQ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DSA Lab (Part 1): Custom HashMap &amp; Prefix Trie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Custom HashMap with Separate Chaining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[HASHMAP LAB]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Hash Function: Polynomial rolling hash algorithm with prime multiplier 31.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Collision Handling: Array of linked node buckets (Separate Chaining).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Interactive Lifecycle: Visual animation of INPUT -&gt; HASH -&gt; BUCKET -&gt; VALUE.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Inspectable Buckets: Live grid showing all 16 bucket chains and key-value nodes.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Time Complexity: O(1) Average Lookup &amp; Insert | Space: O(N).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Custom Trie (Prefix Tree)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[TRIE LAB]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Hierarchical Character Nodes: Multi-way tree storing keywords character-by-character.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Animated Traversal: ROOT -&gt; P -&gt; Y -&gt; T -&gt; H -&gt; O -&gt; N with glowing pointer transitions.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Autocomplete Engine: Instant prefix search &amp; candidate suggestion generator.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Dynamic Insertion: Add new words and watch tree structure update live.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Time Complexity: O(L) Search where L = Word Length | Space: O(Sigma * L * 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RESUMEIQ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DSA Lab (Part 2): KMP &amp; Rabin-Karp String Matchers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Knuth-Morris-Pratt (KMP)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[KMP LAB]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LPS Table: Precomputes Longest Proper Prefix which is also a Suffix.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Zero Backtracking: Avoids re-evaluating previously matched characters on mismatch.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Visual Character Stream: Animated comparison ribbon with i and j pointer indicators.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LPS Jump Action: Highlights exact skip indices upon character mismatch.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Time Complexity: O(N + M) Linear Search | Space: O(M) LPS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Rabin-Karp (Rolling Hash)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[RABIN-KARP LAB]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Sliding Window: Computes hash of pattern and matches against rolling text window.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O(1) Rolling Update: (hash - old_char) * base + new_char (mod prime).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Collision Detection: Direct character verification when hash matches to prevent false positives.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Telemetry: Tracks active window index, rolling hash value, and collision counts.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Time Complexity: O(N + M) Expected | Worst Case: O(N * 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RESUMEIQ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DSA Lab (Part 3): DP Edit Distance &amp; Max-Heap Ranking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Levenshtein Edit Distance (DP)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[EDIT DISTANCE LAB]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Matrix Recurrence: DP[i][j] = min(Insert, Delete, Replace) + cost.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Cell-by-Cell Animation: Visualizes bottom-up dynamic programming calculation.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Optimal Path Backtrace: Highlights the minimum transformation sequence from start to end.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Similarity Percentage: Converts edit distance into normalized % match.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Time Complexity: O(N * M) | Space Complexity: O(N * M) Grid.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Priority Max-Heap Ranking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[RANKING LAB]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Heap Ordering: Prioritizes requirements by importance weight using Max-Heap.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Interactive Weight Sliders: Adjust requirement weights and observe dynamic score shifts.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Proportional Influence: Core skills (e.g. 10 pts) contribute more than secondary skills (e.g. 5 pts).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Category Breakdown: Analyzes coverage across Languages, Frameworks, and Tools.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Time Complexity: O(K log K) Heap Sort | Space Complexity: O(K).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RESUMEIQ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Algorithm Performance Lab (Empirical Benchmarks)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Real CPU Execution Timing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[EMPIRICAL METRICS]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Zero Hardcoded Numbers: Measured directly via Python's time.perf_counter().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Variable Dataset Sizes: Scalable testing on 100, 1,000, 10,000, and 50,000 items.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Comparative Search Suite: Linear Search O(N) vs HashMap O(1) vs Trie O(L).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Comparative String Suite: Naive Search O(NM) vs KMP O(N+M) vs Rabin-Karp O(N+M).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Empirical Speedups: HashMap and Trie consistently demonstrate up to 20x-100x speedups over Linear Search on large datasets.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Hardware Transparency &amp; Visual Telemetry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[BENCHMARK LAB]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Interactive Progress Bars: Visual latency comparison in microseconds (us).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Telemetry Tables: Itemized latency figures, operations estimates, and speedup ratios.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Mandatory Hardware Disclaimer: 'Benchmark results depend on the user\'s hardware, Python version, dataset, and implementation.'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Demonstrates Real Theoretical Advantage: Concretely proves Big-O time complexity curves.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RESUMEIQ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Stack &amp; Technical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Backend Architecture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[FASTAPI &amp; PYTHON]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FastAPI: High-performance async REST API framework.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Python 3.13: Pure native algorithms without heavy external dependencies.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Pydantic: Strict schema validation for all endpoints.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pdfplumber / pypdfium2: Deterministic document text extraction.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time.perf_counter(): Microsecond CPU benchmarking.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Frontend Interface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[REACT &amp; VITE]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React 18 + Vite: Sub-second HMR and instant client state management.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Tailwind CSS: Modern dark-mode glassmorphism styling.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Lucide React: Clean, technical vector iconography.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Canvas Confetti: Celebration feedback on strong matches.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Fully Responsive: Optimized for desktops, tablets, and mobile.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413455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Engineering Best Practices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[CODE QUALITY]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Clean Code Separation: Distinct algorithms, pipeline, and benchmark modules.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RESTful API Design: Decoupled client-server architecture.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Zero External AI Overhead: Fully functional offline &amp; deterministic.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Production-Grade Build: Vite bundle under 370 kB gzip-ready.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Interactive Documentation: Swagger UI at /docs.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RESUMEIQ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 of Achievements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Key Deliverables Achieved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[COMPLETED MILESTONES]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Portfolio-Grade Project: Fully working showcase for interviews, college presentations, and hackathons.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Explainable &amp; Auditable: Every match percentage is backed by mathematical and algorithmic proofs.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Interactive Laboratory: 6 dedicated visual DSA sandboxes with step-by-step state animations.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Empirical Benchmark Suite: Real CPU time comparison across 100 to 50,000 keys.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Instant Demonstration Mode: 1-click realistic demo running the exact backend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Future Enhancements &amp; Scalability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[FUTURE ROADMAP]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Multi-Resume Batch Parser: Concurrent multi-threaded candidate ranking for large corporate batches.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Graph-Based Skill Ontology: Knowledge graph representing skill hierarchies and cross-domain relationships.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Exportable PDF Audit Dossiers: Single-click generation of verifiable candidate score reports.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Optional AI Summarizer: Secondary LLM summary layer while keeping deterministic DSA core intact.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3840480"/>
          </a:xfrm>
          <a:prstGeom prst="roundRect">
            <a:avLst/>
          </a:prstGeom>
          <a:solidFill>
            <a:srgbClr val="131C3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</a:defRPr>
            </a:pPr>
            <a:r>
              <a:t>Thank You!</a:t>
            </a:r>
          </a:p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</a:defRPr>
            </a:pPr>
            <a:r>
              <a:t>ResumeIQ — The Future of Deterministic, Explainable Resume Matching</a:t>
            </a:r>
          </a:p>
          <a:p>
            <a:pPr>
              <a:spcAft>
                <a:spcPts val="1600"/>
              </a:spcAft>
              <a:defRPr sz="1300">
                <a:solidFill>
                  <a:srgbClr val="94A3B8"/>
                </a:solidFill>
              </a:defRPr>
            </a:pPr>
            <a:r>
              <a:t>• Web Application: http://localhost:5173</a:t>
            </a:r>
            <a:br/>
            <a:r>
              <a:t>• Backend API &amp; Docs: http://127.0.0.1:8000/docs</a:t>
            </a:r>
            <a:br/>
            <a:r>
              <a:t>• Core Stack: FastAPI | Python 3.13 | React 18 | Vite | Tailwind CSS</a:t>
            </a:r>
            <a:br/>
            <a:r>
              <a:t>• Algorithms: HashMap | Trie | KMP | Rabin-Karp | DP Levenshtein | Max-Heap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Questions &amp; Demonstration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